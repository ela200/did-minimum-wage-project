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7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033" autoAdjust="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80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76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la200/did-minimum-wage-projec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Inference and ML: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Wage Policies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Teen Employment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Estimating the Effect of Minimum Wage on Teen Employment using DML-DiD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Elaa Hamdi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Repository:</a:t>
            </a:r>
            <a:endParaRPr lang="en-US" sz="1100" dirty="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2240280" y="41605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github.com/Ela200/did-minimum-wage-project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0" y="491947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91947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4251960" cy="1207008"/>
          </a:xfrm>
          <a:prstGeom prst="rect">
            <a:avLst/>
          </a:prstGeom>
          <a:solidFill>
            <a:srgbClr val="F5F5F5"/>
          </a:solidFill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54864" cy="1207008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9784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078992" y="9784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EDA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134416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structure, descriptive statistics, and employment trends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841248"/>
            <a:ext cx="4251960" cy="1207008"/>
          </a:xfrm>
          <a:prstGeom prst="rect">
            <a:avLst/>
          </a:prstGeom>
          <a:solidFill>
            <a:srgbClr val="F5F5F5"/>
          </a:solidFill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841248"/>
            <a:ext cx="54864" cy="1207008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10912" y="9784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59552" y="9784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Framework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59552" y="134416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and identification of confounders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31136"/>
            <a:ext cx="4251960" cy="1207008"/>
          </a:xfrm>
          <a:prstGeom prst="rect">
            <a:avLst/>
          </a:prstGeom>
          <a:solidFill>
            <a:srgbClr val="F5F5F5"/>
          </a:solidFill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231136"/>
            <a:ext cx="54864" cy="1207008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236829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2D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>
              <a:solidFill>
                <a:srgbClr val="92D05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78992" y="236829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8992" y="273405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Treatment/control groups, baseline period, sample restrictions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231136"/>
            <a:ext cx="4251960" cy="1207008"/>
          </a:xfrm>
          <a:prstGeom prst="rect">
            <a:avLst/>
          </a:prstGeom>
          <a:solidFill>
            <a:srgbClr val="F5F5F5"/>
          </a:solidFill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2231136"/>
            <a:ext cx="54864" cy="1207008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10912" y="236829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559552" y="236829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59552" y="273405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Doubly Robust DML-DiD estimator and ML learners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621024"/>
            <a:ext cx="4251960" cy="1207008"/>
          </a:xfrm>
          <a:prstGeom prst="rect">
            <a:avLst/>
          </a:prstGeom>
          <a:solidFill>
            <a:srgbClr val="F5F5F5"/>
          </a:solidFill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621024"/>
            <a:ext cx="54864" cy="1207008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0352" y="375818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78992" y="37581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78992" y="412394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 estimates, dynamic effects, and heterogeneity by county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621024"/>
            <a:ext cx="4251960" cy="1207008"/>
          </a:xfrm>
          <a:prstGeom prst="rect">
            <a:avLst/>
          </a:prstGeom>
          <a:solidFill>
            <a:srgbClr val="F5F5F5"/>
          </a:solidFill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3621024"/>
            <a:ext cx="54864" cy="1207008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10912" y="375818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59552" y="37581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Validity &amp; Conclusion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59552" y="412394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Pre-trend test and key takeaways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Research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91947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959767"/>
            <a:ext cx="8412480" cy="11525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County-year panel data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United States 2001–2007 (N = 18,851 obs.).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log county-level teen employment. 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indicator for county minimum wage above the federal level.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Callaway (2022) / Callaway &amp; Sant'Anna (2021)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2031" y="2175216"/>
            <a:ext cx="841248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199131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Statistics</a:t>
            </a:r>
            <a:endParaRPr lang="en-US" sz="1200" dirty="0">
              <a:solidFill>
                <a:srgbClr val="C00000"/>
              </a:solidFill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579846"/>
              </p:ext>
            </p:extLst>
          </p:nvPr>
        </p:nvGraphicFramePr>
        <p:xfrm>
          <a:off x="422031" y="2571750"/>
          <a:ext cx="6400800" cy="201168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Std Dev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 Teen Employment (lemp)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 Population (lpop)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 Avg Annual Pay (lavg_pay)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Employment Trends — Treated vs. Control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91947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777240"/>
            <a:ext cx="4114800" cy="41605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77724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Framework — DAG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91947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749808"/>
            <a:ext cx="84124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 &amp; Identification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5278199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10" name="Shape 10"/>
          <p:cNvSpPr/>
          <p:nvPr/>
        </p:nvSpPr>
        <p:spPr>
          <a:xfrm>
            <a:off x="365760" y="1046190"/>
            <a:ext cx="4251960" cy="1160000"/>
          </a:xfrm>
          <a:prstGeom prst="rect">
            <a:avLst/>
          </a:prstGeom>
          <a:solidFill>
            <a:srgbClr val="F5F5F5"/>
          </a:solidFill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365760" y="1046190"/>
            <a:ext cx="54864" cy="1160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/>
          <p:cNvSpPr/>
          <p:nvPr/>
        </p:nvSpPr>
        <p:spPr>
          <a:xfrm>
            <a:off x="594360" y="1176190"/>
            <a:ext cx="379476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cohort</a:t>
            </a:r>
            <a:endParaRPr lang="en-US" sz="1200" dirty="0"/>
          </a:p>
        </p:txBody>
      </p:sp>
      <p:sp>
        <p:nvSpPr>
          <p:cNvPr id="13" name="Text 13"/>
          <p:cNvSpPr/>
          <p:nvPr/>
        </p:nvSpPr>
        <p:spPr>
          <a:xfrm>
            <a:off x="594360" y="1546190"/>
            <a:ext cx="379476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counties that first raised their minimum wage above the federal level in </a:t>
            </a:r>
            <a:r>
              <a:rPr lang="en-US" sz="10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2004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 = 2004) are included as the treated group.</a:t>
            </a:r>
          </a:p>
        </p:txBody>
      </p:sp>
      <p:sp>
        <p:nvSpPr>
          <p:cNvPr id="20" name="Shape 20"/>
          <p:cNvSpPr/>
          <p:nvPr/>
        </p:nvSpPr>
        <p:spPr>
          <a:xfrm>
            <a:off x="4846320" y="1046190"/>
            <a:ext cx="4023360" cy="1160000"/>
          </a:xfrm>
          <a:prstGeom prst="rect">
            <a:avLst/>
          </a:prstGeom>
          <a:solidFill>
            <a:srgbClr val="F5F5F5"/>
          </a:solidFill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21"/>
          <p:cNvSpPr/>
          <p:nvPr/>
        </p:nvSpPr>
        <p:spPr>
          <a:xfrm>
            <a:off x="4846320" y="1046190"/>
            <a:ext cx="54864" cy="1160000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2"/>
          <p:cNvSpPr/>
          <p:nvPr/>
        </p:nvSpPr>
        <p:spPr>
          <a:xfrm>
            <a:off x="5074920" y="1176190"/>
            <a:ext cx="379476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restriction</a:t>
            </a:r>
            <a:endParaRPr lang="en-US" sz="1200" dirty="0"/>
          </a:p>
        </p:txBody>
      </p:sp>
      <p:sp>
        <p:nvSpPr>
          <p:cNvPr id="23" name="Text 23"/>
          <p:cNvSpPr/>
          <p:nvPr/>
        </p:nvSpPr>
        <p:spPr>
          <a:xfrm>
            <a:off x="5074920" y="1546190"/>
            <a:ext cx="379476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Counties already treated in 2001 are excluded from the analysis, to keep a clean pre-treatment period.</a:t>
            </a:r>
          </a:p>
        </p:txBody>
      </p:sp>
      <p:sp>
        <p:nvSpPr>
          <p:cNvPr id="30" name="Shape 30"/>
          <p:cNvSpPr/>
          <p:nvPr/>
        </p:nvSpPr>
        <p:spPr>
          <a:xfrm>
            <a:off x="365760" y="2411360"/>
            <a:ext cx="4251960" cy="1160000"/>
          </a:xfrm>
          <a:prstGeom prst="rect">
            <a:avLst/>
          </a:prstGeom>
          <a:solidFill>
            <a:srgbClr val="F5F5F5"/>
          </a:solidFill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31"/>
          <p:cNvSpPr/>
          <p:nvPr/>
        </p:nvSpPr>
        <p:spPr>
          <a:xfrm>
            <a:off x="365760" y="2411360"/>
            <a:ext cx="54864" cy="1160000"/>
          </a:xfrm>
          <a:prstGeom prst="rect">
            <a:avLst/>
          </a:prstGeom>
          <a:solidFill>
            <a:srgbClr val="7B68A0"/>
          </a:solidFill>
          <a:ln w="12700">
            <a:solidFill>
              <a:srgbClr val="7B68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2"/>
          <p:cNvSpPr/>
          <p:nvPr/>
        </p:nvSpPr>
        <p:spPr>
          <a:xfrm>
            <a:off x="594360" y="2541360"/>
            <a:ext cx="379476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Pre-treatment baseline</a:t>
            </a:r>
            <a:endParaRPr lang="en-US" sz="1200" dirty="0"/>
          </a:p>
        </p:txBody>
      </p:sp>
      <p:sp>
        <p:nvSpPr>
          <p:cNvPr id="33" name="Text 33"/>
          <p:cNvSpPr/>
          <p:nvPr/>
        </p:nvSpPr>
        <p:spPr>
          <a:xfrm>
            <a:off x="594360" y="2911360"/>
            <a:ext cx="379476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7B6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2003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serves as the reference period — the outcome is defined as ΔY = lemp_t − lemp_2003.</a:t>
            </a:r>
          </a:p>
        </p:txBody>
      </p:sp>
      <p:sp>
        <p:nvSpPr>
          <p:cNvPr id="40" name="Shape 40"/>
          <p:cNvSpPr/>
          <p:nvPr/>
        </p:nvSpPr>
        <p:spPr>
          <a:xfrm>
            <a:off x="4846320" y="2411360"/>
            <a:ext cx="4072597" cy="1160000"/>
          </a:xfrm>
          <a:prstGeom prst="rect">
            <a:avLst/>
          </a:prstGeom>
          <a:solidFill>
            <a:srgbClr val="F5F5F5"/>
          </a:solidFill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41"/>
          <p:cNvSpPr/>
          <p:nvPr/>
        </p:nvSpPr>
        <p:spPr>
          <a:xfrm>
            <a:off x="4846320" y="2411360"/>
            <a:ext cx="54864" cy="1160000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2"/>
          <p:cNvSpPr/>
          <p:nvPr/>
        </p:nvSpPr>
        <p:spPr>
          <a:xfrm>
            <a:off x="5074920" y="2541360"/>
            <a:ext cx="379476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parallel trends</a:t>
            </a:r>
            <a:endParaRPr lang="en-US" sz="1200" dirty="0"/>
          </a:p>
        </p:txBody>
      </p:sp>
      <p:sp>
        <p:nvSpPr>
          <p:cNvPr id="43" name="Text 43"/>
          <p:cNvSpPr/>
          <p:nvPr/>
        </p:nvSpPr>
        <p:spPr>
          <a:xfrm>
            <a:off x="5074920" y="2911360"/>
            <a:ext cx="379476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trends holds after conditioning on 2001 population, avg pay, teen employment, and region (4 categories).</a:t>
            </a:r>
          </a:p>
        </p:txBody>
      </p:sp>
      <p:sp>
        <p:nvSpPr>
          <p:cNvPr id="50" name="Shape 50"/>
          <p:cNvSpPr/>
          <p:nvPr/>
        </p:nvSpPr>
        <p:spPr>
          <a:xfrm>
            <a:off x="365760" y="3818727"/>
            <a:ext cx="8553157" cy="850000"/>
          </a:xfrm>
          <a:prstGeom prst="rect">
            <a:avLst/>
          </a:prstGeom>
          <a:solidFill>
            <a:srgbClr val="F5F5F5"/>
          </a:solidFill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51"/>
          <p:cNvSpPr/>
          <p:nvPr/>
        </p:nvSpPr>
        <p:spPr>
          <a:xfrm>
            <a:off x="365760" y="3818727"/>
            <a:ext cx="54864" cy="850000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2"/>
          <p:cNvSpPr/>
          <p:nvPr/>
        </p:nvSpPr>
        <p:spPr>
          <a:xfrm>
            <a:off x="594360" y="3948727"/>
            <a:ext cx="827532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group</a:t>
            </a:r>
            <a:endParaRPr lang="en-US" sz="1200" dirty="0"/>
          </a:p>
        </p:txBody>
      </p:sp>
      <p:sp>
        <p:nvSpPr>
          <p:cNvPr id="53" name="Text 53"/>
          <p:cNvSpPr/>
          <p:nvPr/>
        </p:nvSpPr>
        <p:spPr>
          <a:xfrm>
            <a:off x="594360" y="4318727"/>
            <a:ext cx="82753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Counties remaining at the federal minimum wage in each year — a group that shrinks annually as more counties adopt higher wages.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— DML-DiD Estimator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91947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05256"/>
            <a:ext cx="45720" cy="594360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868680"/>
            <a:ext cx="8211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Doubly Robust ATT (DR-DiD)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086729"/>
            <a:ext cx="8211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estimator combines an outcome model E[ΔY|D=0,X], a propensity score E[D|X], and P(D=1) into a doubly robust score. Consistent if either nuisance model is correctly specified.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746504"/>
            <a:ext cx="45720" cy="594360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709928"/>
            <a:ext cx="8211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Cross-Fitting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867486"/>
            <a:ext cx="8211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Nuisance functions are estimated out-of-sample using StratifiedKFold (</a:t>
            </a:r>
            <a:r>
              <a:rPr lang="en-US" sz="10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splits</a:t>
            </a: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to avoid overfitting bias in the final ATT estimate.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587752"/>
            <a:ext cx="45720" cy="594360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2551176"/>
            <a:ext cx="8211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ML Learners Compared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763598"/>
            <a:ext cx="8211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Controls, Linear (Basic), Region interactions (Expansion), Lasso (CV), Ridge (CV), Random Forest — selected by RMSE on held-out folds.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5720" cy="594360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3392424"/>
            <a:ext cx="8211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&amp; Stack Ensembles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621024"/>
            <a:ext cx="8211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combines the individually lowest-RMSE learner for each nuisance. Stack fits a linear combination of all learner predictions before the final stage.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270248"/>
            <a:ext cx="45720" cy="594360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4233672"/>
            <a:ext cx="8211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Propensity Trimming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4426048"/>
            <a:ext cx="8211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Propensity scores clipped at </a:t>
            </a:r>
            <a:r>
              <a:rPr lang="en-US" sz="10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</a:t>
            </a: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avoid extreme inverse-probability weights. Estimated via DummyRegressor as the constant P(D=1) within each fold.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ATT Estimates (2004–2007)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91947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ATET point estimates across all learners and years. Negative values indicate a decrease in log teen employment following the minimum wage increase.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3785616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Controls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−0.040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−0.076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−0.117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−0.131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−0.048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−0.053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−0.067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Expansion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−0.049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−0.052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−0.071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Lasso (CV)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−0.039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−0.036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−0.043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 (CV)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−0.045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−0.051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−0.064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−0.049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−0.051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−0.067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−0.049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−0.049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−0.077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−0.049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−0.050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−0.065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Dynamic Treatment Effect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91947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0" y="749808"/>
            <a:ext cx="6949440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effect is small in 2004 and grows over time — consistent with gradual firm adjustment. The 2002 placebo (pre-treatment) shows ATT ≈ 0, validating parallel trends.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Heterogeneity Analysis — Causal Forest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91947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741680"/>
            <a:ext cx="84124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a single average effect: does the impact of the minimum wage increase vary by county characteristics?</a:t>
            </a:r>
            <a:endParaRPr lang="en-US" sz="1050" dirty="0"/>
          </a:p>
        </p:txBody>
      </p:sp>
      <p:pic>
        <p:nvPicPr>
          <p:cNvPr id="5" name="Image 0" descr="Causal Forest ATE by yea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2900" y="1150000"/>
            <a:ext cx="3970000" cy="3566680"/>
          </a:xfrm>
          <a:prstGeom prst="rect">
            <a:avLst/>
          </a:prstGeom>
        </p:spPr>
      </p:pic>
      <p:pic>
        <p:nvPicPr>
          <p:cNvPr id="6" name="Image 1" descr="CATE vs baseline population scatte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41500" y="1150000"/>
            <a:ext cx="3970000" cy="3566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957" y="4716680"/>
            <a:ext cx="8932985" cy="29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average effect deepens from </a:t>
            </a:r>
            <a:r>
              <a:rPr lang="en-US" sz="850" b="1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−0.10</a:t>
            </a:r>
            <a:r>
              <a:rPr lang="en-US" sz="8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2007. County-level effects range from −1.46 to 0.21, correlating with baseline population (</a:t>
            </a:r>
            <a:r>
              <a:rPr lang="en-US" sz="850" b="1" i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0.55</a:t>
            </a:r>
            <a:r>
              <a:rPr lang="en-US" sz="8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smaller counties see larger declines.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Validity — Pre-Trend Test (Placebo 2002)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91947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DML-DiD pipeline is re-run treating 2002 as the “treatment” year, before any actual wage change. All learners should return ATT ≈ 0 under valid parallel trends.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41248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 Estimates — Year 2002 (Placebo)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828800"/>
          <a:ext cx="6400800" cy="30449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 (2002)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Std. Error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Controls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Expansion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Lasso (CV)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 (CV)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3A"/>
          </a:solidFill>
          <a:ln w="12700">
            <a:solidFill>
              <a:srgbClr val="1C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91947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Text 10"/>
          <p:cNvSpPr/>
          <p:nvPr/>
        </p:nvSpPr>
        <p:spPr>
          <a:xfrm>
            <a:off x="365760" y="1414237"/>
            <a:ext cx="268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−0.13</a:t>
            </a:r>
            <a:endParaRPr lang="en-US" sz="3600" dirty="0"/>
          </a:p>
        </p:txBody>
      </p:sp>
      <p:sp>
        <p:nvSpPr>
          <p:cNvPr id="11" name="Text 11"/>
          <p:cNvSpPr/>
          <p:nvPr/>
        </p:nvSpPr>
        <p:spPr>
          <a:xfrm>
            <a:off x="365760" y="2014237"/>
            <a:ext cx="268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NEGATIVE ATT, 2007 (NO CONTROLS)</a:t>
            </a:r>
            <a:endParaRPr lang="en-US" sz="900" dirty="0"/>
          </a:p>
        </p:txBody>
      </p:sp>
      <p:sp>
        <p:nvSpPr>
          <p:cNvPr id="12" name="Shape 12"/>
          <p:cNvSpPr/>
          <p:nvPr/>
        </p:nvSpPr>
        <p:spPr>
          <a:xfrm>
            <a:off x="365760" y="2334237"/>
            <a:ext cx="2592000" cy="1270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3"/>
          <p:cNvSpPr/>
          <p:nvPr/>
        </p:nvSpPr>
        <p:spPr>
          <a:xfrm>
            <a:off x="365760" y="2494237"/>
            <a:ext cx="268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employment effect</a:t>
            </a:r>
            <a:endParaRPr lang="en-US" sz="1200" dirty="0"/>
          </a:p>
        </p:txBody>
      </p:sp>
      <p:sp>
        <p:nvSpPr>
          <p:cNvPr id="14" name="Text 14"/>
          <p:cNvSpPr/>
          <p:nvPr/>
        </p:nvSpPr>
        <p:spPr>
          <a:xfrm>
            <a:off x="365760" y="2874237"/>
            <a:ext cx="2592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Treated counties show a statistically significant decline in log teen employment, growing from </a:t>
            </a: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−0.02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2004 to </a:t>
            </a: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−0.07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2007. The delay is consistent with gradual labour-market adjustment.</a:t>
            </a:r>
            <a:endParaRPr lang="en-US" sz="1000" dirty="0"/>
          </a:p>
        </p:txBody>
      </p:sp>
      <p:sp>
        <p:nvSpPr>
          <p:cNvPr id="20" name="Text 20"/>
          <p:cNvSpPr/>
          <p:nvPr/>
        </p:nvSpPr>
        <p:spPr>
          <a:xfrm>
            <a:off x="3412000" y="1414237"/>
            <a:ext cx="268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8/8</a:t>
            </a:r>
            <a:endParaRPr lang="en-US" sz="3600" dirty="0"/>
          </a:p>
        </p:txBody>
      </p:sp>
      <p:sp>
        <p:nvSpPr>
          <p:cNvPr id="21" name="Text 21"/>
          <p:cNvSpPr/>
          <p:nvPr/>
        </p:nvSpPr>
        <p:spPr>
          <a:xfrm>
            <a:off x="3412000" y="2014237"/>
            <a:ext cx="268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agree on direction</a:t>
            </a:r>
            <a:endParaRPr lang="en-US" sz="900" dirty="0"/>
          </a:p>
        </p:txBody>
      </p:sp>
      <p:sp>
        <p:nvSpPr>
          <p:cNvPr id="22" name="Shape 22"/>
          <p:cNvSpPr/>
          <p:nvPr/>
        </p:nvSpPr>
        <p:spPr>
          <a:xfrm>
            <a:off x="3412000" y="2334237"/>
            <a:ext cx="2556000" cy="1270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3"/>
          <p:cNvSpPr/>
          <p:nvPr/>
        </p:nvSpPr>
        <p:spPr>
          <a:xfrm>
            <a:off x="3412000" y="2494237"/>
            <a:ext cx="268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across learners</a:t>
            </a:r>
            <a:endParaRPr lang="en-US" sz="1200" dirty="0"/>
          </a:p>
        </p:txBody>
      </p:sp>
      <p:sp>
        <p:nvSpPr>
          <p:cNvPr id="24" name="Text 24"/>
          <p:cNvSpPr/>
          <p:nvPr/>
        </p:nvSpPr>
        <p:spPr>
          <a:xfrm>
            <a:off x="3412000" y="2874237"/>
            <a:ext cx="268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are consistent across all six ML learners, Best, and Stack. No Controls overstates the effect by roughly </a:t>
            </a:r>
            <a:r>
              <a:rPr lang="en-US" sz="10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confirming that conditioning on pre-treatment covariates matters for credible inference.</a:t>
            </a:r>
            <a:endParaRPr lang="en-US" sz="1000" dirty="0"/>
          </a:p>
        </p:txBody>
      </p:sp>
      <p:sp>
        <p:nvSpPr>
          <p:cNvPr id="30" name="Text 30"/>
          <p:cNvSpPr/>
          <p:nvPr/>
        </p:nvSpPr>
        <p:spPr>
          <a:xfrm>
            <a:off x="6458240" y="1414237"/>
            <a:ext cx="268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2CA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≈0</a:t>
            </a:r>
            <a:endParaRPr lang="en-US" sz="3600" dirty="0"/>
          </a:p>
        </p:txBody>
      </p:sp>
      <p:sp>
        <p:nvSpPr>
          <p:cNvPr id="31" name="Text 31"/>
          <p:cNvSpPr/>
          <p:nvPr/>
        </p:nvSpPr>
        <p:spPr>
          <a:xfrm>
            <a:off x="6458240" y="2014237"/>
            <a:ext cx="268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ATT, 2002 placebo (all learners)</a:t>
            </a:r>
            <a:endParaRPr lang="en-US" sz="900" dirty="0"/>
          </a:p>
        </p:txBody>
      </p:sp>
      <p:sp>
        <p:nvSpPr>
          <p:cNvPr id="33" name="Text 33"/>
          <p:cNvSpPr/>
          <p:nvPr/>
        </p:nvSpPr>
        <p:spPr>
          <a:xfrm>
            <a:off x="6458240" y="2494237"/>
            <a:ext cx="268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trends validated</a:t>
            </a:r>
            <a:endParaRPr lang="en-US" sz="1200" dirty="0"/>
          </a:p>
        </p:txBody>
      </p:sp>
      <p:sp>
        <p:nvSpPr>
          <p:cNvPr id="34" name="Text 34"/>
          <p:cNvSpPr/>
          <p:nvPr/>
        </p:nvSpPr>
        <p:spPr>
          <a:xfrm>
            <a:off x="6458240" y="2874237"/>
            <a:ext cx="2397372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2002 placebo yields ATT </a:t>
            </a:r>
            <a:r>
              <a:rPr lang="en-US" sz="1000" b="1" dirty="0">
                <a:solidFill>
                  <a:srgbClr val="2CA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all learners, none significant at 5%, supporting the conditional parallel trends assumption underlying the design.</a:t>
            </a:r>
            <a:endParaRPr lang="en-US" sz="1000" dirty="0"/>
          </a:p>
        </p:txBody>
      </p:sp>
      <p:sp>
        <p:nvSpPr>
          <p:cNvPr id="6" name="Shape 22">
            <a:extLst>
              <a:ext uri="{FF2B5EF4-FFF2-40B4-BE49-F238E27FC236}">
                <a16:creationId xmlns:a16="http://schemas.microsoft.com/office/drawing/2014/main" id="{6D04AB39-3106-E690-81D5-BE20CF5BCE13}"/>
              </a:ext>
            </a:extLst>
          </p:cNvPr>
          <p:cNvSpPr/>
          <p:nvPr/>
        </p:nvSpPr>
        <p:spPr>
          <a:xfrm>
            <a:off x="6377938" y="2346936"/>
            <a:ext cx="2308862" cy="1440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943</Words>
  <Application>Microsoft Office PowerPoint</Application>
  <PresentationFormat>On-screen Show (16:9)</PresentationFormat>
  <Paragraphs>187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Difference-in-Differences Analysis of Minimum Wage Policies and Teen Employment</dc:title>
  <dc:subject>PptxGenJS Presentation</dc:subject>
  <dc:creator>Elaa Hamdi</dc:creator>
  <cp:lastModifiedBy>Ella Hamdi</cp:lastModifiedBy>
  <cp:revision>3</cp:revision>
  <dcterms:created xsi:type="dcterms:W3CDTF">2026-06-29T15:03:55Z</dcterms:created>
  <dcterms:modified xsi:type="dcterms:W3CDTF">2026-07-31T15:35:14Z</dcterms:modified>
</cp:coreProperties>
</file>